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15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587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9"/>
          </a:solidFill>
          <a:ln w="12700">
            <a:solidFill>
              <a:srgbClr val="030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6D28D9">
              <a:alpha val="18000"/>
            </a:srgbClr>
          </a:solidFill>
          <a:ln w="12700">
            <a:solidFill>
              <a:srgbClr val="6D28D9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ResearchMind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Intelligence Platform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knowledge connects."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32004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546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Teodor Mihailescu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Anastasia Sandu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Selena Hurloi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 2026  ·  May 2026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D5633B-719F-CCF9-C697-9CF390F7A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440" y="1255522"/>
            <a:ext cx="4368800" cy="2298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9"/>
          </a:solidFill>
          <a:ln w="12700">
            <a:solidFill>
              <a:srgbClr val="030309"/>
            </a:solidFill>
            <a:prstDash val="solid"/>
          </a:ln>
        </p:spPr>
        <p:txBody>
          <a:bodyPr/>
          <a:lstStyle/>
          <a:p>
            <a:endParaRPr lang="en-RO" dirty="0"/>
          </a:p>
        </p:txBody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73168"/>
            <a:ext cx="9144000" cy="6400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are drowning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disconnected knowledge.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0F172A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74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200–400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" y="309067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read per year by a single PhD student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78308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0F172A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874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91840" y="2514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hrs/week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91840" y="309067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searching and cross-referencing literature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78308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0F172A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874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17920" y="309067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connect, synthesise AND critique papers with AI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D6C12B0-6F87-B0E3-A431-86549EED8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998" y="23368"/>
            <a:ext cx="1197196" cy="629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9"/>
          </a:solidFill>
          <a:ln w="12700">
            <a:solidFill>
              <a:srgbClr val="030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73168"/>
            <a:ext cx="9144000" cy="6400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agents.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living knowledge graph.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743200" cy="2834640"/>
          </a:xfrm>
          <a:prstGeom prst="roundRect">
            <a:avLst>
              <a:gd name="adj" fmla="val 4667"/>
            </a:avLst>
          </a:prstGeom>
          <a:solidFill>
            <a:srgbClr val="0F172A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1783080"/>
            <a:ext cx="731520" cy="731520"/>
          </a:xfrm>
          <a:prstGeom prst="ellipse">
            <a:avLst/>
          </a:prstGeom>
          <a:solidFill>
            <a:srgbClr val="6D28D9">
              <a:alpha val="8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9077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Analyzer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3273552"/>
            <a:ext cx="24688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title, concepts, methodology, findings &amp; keywords from any paper in under 10 seconds.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18688" y="1645920"/>
            <a:ext cx="2743200" cy="2834640"/>
          </a:xfrm>
          <a:prstGeom prst="roundRect">
            <a:avLst>
              <a:gd name="adj" fmla="val 4667"/>
            </a:avLst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4528" y="1783080"/>
            <a:ext cx="731520" cy="731520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18688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18688" y="29077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Agent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55848" y="3273552"/>
            <a:ext cx="24688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cross-paper themes, surfaces research gaps, and generates novel evidence-backed hypotheses.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3056" y="1645920"/>
            <a:ext cx="2743200" cy="2834640"/>
          </a:xfrm>
          <a:prstGeom prst="roundRect">
            <a:avLst>
              <a:gd name="adj" fmla="val 4667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68896" y="1783080"/>
            <a:ext cx="731520" cy="73152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68896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63056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63056" y="29077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Critic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00216" y="3273552"/>
            <a:ext cx="24688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paper's methodology, reproducibility &amp; statistical soundness. Flags weaknesses &amp; suggests improvements.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8E4AF51-B966-7D14-851D-3AEFC100D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998" y="23368"/>
            <a:ext cx="1197196" cy="629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9"/>
          </a:solidFill>
          <a:ln w="12700">
            <a:solidFill>
              <a:srgbClr val="030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73168"/>
            <a:ext cx="9144000" cy="6400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ResearchMind in action.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8503920" cy="3246120"/>
          </a:xfrm>
          <a:prstGeom prst="roundRect">
            <a:avLst>
              <a:gd name="adj" fmla="val 4225"/>
            </a:avLst>
          </a:prstGeom>
          <a:solidFill>
            <a:srgbClr val="07071A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3619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1536192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" y="1536192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2011680" cy="2834640"/>
          </a:xfrm>
          <a:prstGeom prst="rect">
            <a:avLst/>
          </a:prstGeom>
          <a:solidFill>
            <a:srgbClr val="08081F"/>
          </a:solidFill>
          <a:ln w="6350">
            <a:solidFill>
              <a:srgbClr val="1E1E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745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LIBRARY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20370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87752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5328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91693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Survey 2024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1901952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0E0E2A"/>
          </a:solidFill>
          <a:ln w="762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195681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OUTPUT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423160" y="21762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2514600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Transformer architecture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14600" y="2843784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Self-attention mechanism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14600" y="317296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Multi-head attention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14600" y="3502152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Positional encoding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53712" y="1901952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0E0E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3712" y="195681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OUTPUT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53712" y="21762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45152" y="2514600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Combining transformer attention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45152" y="2843784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with protein folding functions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45152" y="317296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may improve binding site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45152" y="3502152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prediction by 23%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84264" y="1901952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0E0E2A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84264" y="195681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OUTPUT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684264" y="21762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Score: 9.1/10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5704" y="2514600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Methodology: 9/10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75704" y="2843784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Reproducibility: 10/10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75704" y="317296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Novelty: 9/10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75704" y="3502152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Minor: limited ablations</a:t>
            </a:r>
            <a:endParaRPr lang="en-US" sz="9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7AEF26A-A760-551D-931A-DED0FD07E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998" y="23368"/>
            <a:ext cx="1197196" cy="629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9"/>
          </a:solidFill>
          <a:ln w="12700">
            <a:solidFill>
              <a:srgbClr val="030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73168"/>
            <a:ext cx="9144000" cy="6400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$8.2B market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at 12% CAGR.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20040" y="164592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28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$8.2B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" y="26334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market (2025)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96312" y="164592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828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$2.8B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496312" y="26334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2028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72584" y="164592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828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72584" y="26334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papers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annually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48856" y="164592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1828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48856" y="26334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CAGR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8404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target: 3.5M PhD students &amp; postdocs globally  ·  Secondary: 500K academic labs  ·  Tertiary: R&amp;D in pharma &amp; tech companies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EB3224F-F262-02C6-54B2-E732696AA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998" y="23368"/>
            <a:ext cx="1197196" cy="629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9"/>
          </a:solidFill>
          <a:ln w="12700">
            <a:solidFill>
              <a:srgbClr val="030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73168"/>
            <a:ext cx="9144000" cy="6400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SaaS — free tier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viral adoption.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20040" y="1554480"/>
            <a:ext cx="2011680" cy="2926080"/>
          </a:xfrm>
          <a:prstGeom prst="roundRect">
            <a:avLst>
              <a:gd name="adj" fmla="val 5909"/>
            </a:avLst>
          </a:prstGeom>
          <a:solidFill>
            <a:srgbClr val="0F172A"/>
          </a:solidFill>
          <a:ln w="762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74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€0/mo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94360" y="2724912"/>
            <a:ext cx="146304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346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papers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graph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96312" y="1554480"/>
            <a:ext cx="2011680" cy="2926080"/>
          </a:xfrm>
          <a:prstGeom prst="roundRect">
            <a:avLst>
              <a:gd name="adj" fmla="val 5909"/>
            </a:avLst>
          </a:prstGeom>
          <a:solidFill>
            <a:srgbClr val="1E104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572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96312" y="1874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96312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€29/mo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770632" y="2724912"/>
            <a:ext cx="146304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28346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papers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72584" y="1554480"/>
            <a:ext cx="2011680" cy="2926080"/>
          </a:xfrm>
          <a:prstGeom prst="roundRect">
            <a:avLst>
              <a:gd name="adj" fmla="val 5909"/>
            </a:avLst>
          </a:prstGeom>
          <a:solidFill>
            <a:srgbClr val="091A1F"/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1874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72584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€99/mo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946904" y="2724912"/>
            <a:ext cx="146304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28346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48856" y="1554480"/>
            <a:ext cx="2011680" cy="2926080"/>
          </a:xfrm>
          <a:prstGeom prst="roundRect">
            <a:avLst>
              <a:gd name="adj" fmla="val 5909"/>
            </a:avLst>
          </a:prstGeom>
          <a:solidFill>
            <a:srgbClr val="1A1200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1874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4885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€499/mo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123176" y="2724912"/>
            <a:ext cx="146304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8856" y="28346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SLA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ARR Year 1: €258,480  ·  Break-even at Month 8  ·  ROI Year 2: ~767%</a:t>
            </a:r>
            <a:endParaRPr lang="en-US" sz="1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0E21A49-A31E-5F92-B225-BA977F35C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998" y="23368"/>
            <a:ext cx="1197196" cy="629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9"/>
          </a:solidFill>
          <a:ln w="12700">
            <a:solidFill>
              <a:srgbClr val="030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73168"/>
            <a:ext cx="9144000" cy="6400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the only platform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all three agents.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2377440" cy="457200"/>
          </a:xfrm>
          <a:prstGeom prst="rect">
            <a:avLst/>
          </a:prstGeom>
          <a:solidFill>
            <a:srgbClr val="6D28D9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64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664208"/>
            <a:ext cx="1554480" cy="457200"/>
          </a:xfrm>
          <a:prstGeom prst="rect">
            <a:avLst/>
          </a:prstGeom>
          <a:solidFill>
            <a:srgbClr val="6D28D9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6642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ResearchMind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1664208"/>
            <a:ext cx="1554480" cy="457200"/>
          </a:xfrm>
          <a:prstGeom prst="rect">
            <a:avLst/>
          </a:prstGeom>
          <a:solidFill>
            <a:srgbClr val="6D28D9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6642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ResearchRabbit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1664208"/>
            <a:ext cx="1554480" cy="457200"/>
          </a:xfrm>
          <a:prstGeom prst="rect">
            <a:avLst/>
          </a:prstGeom>
          <a:solidFill>
            <a:srgbClr val="6D28D9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6642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Papers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1664208"/>
            <a:ext cx="1554480" cy="457200"/>
          </a:xfrm>
          <a:prstGeom prst="rect">
            <a:avLst/>
          </a:prstGeom>
          <a:solidFill>
            <a:srgbClr val="6D28D9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6642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157984"/>
            <a:ext cx="2377440" cy="457200"/>
          </a:xfrm>
          <a:prstGeom prst="rect">
            <a:avLst/>
          </a:prstGeom>
          <a:solidFill>
            <a:srgbClr val="0F172A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1579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3-Agent AI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2157984"/>
            <a:ext cx="1554480" cy="457200"/>
          </a:xfrm>
          <a:prstGeom prst="rect">
            <a:avLst/>
          </a:prstGeom>
          <a:solidFill>
            <a:srgbClr val="120A28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215798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06240" y="2157984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15798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60720" y="2157984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15798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0" y="2157984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215798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4320" y="2651760"/>
            <a:ext cx="2377440" cy="457200"/>
          </a:xfrm>
          <a:prstGeom prst="rect">
            <a:avLst/>
          </a:prstGeom>
          <a:solidFill>
            <a:srgbClr val="0F172A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Generator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51760" y="2651760"/>
            <a:ext cx="1554480" cy="457200"/>
          </a:xfrm>
          <a:prstGeom prst="rect">
            <a:avLst/>
          </a:prstGeom>
          <a:solidFill>
            <a:srgbClr val="120A28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2651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06240" y="2651760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2651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60720" y="2651760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651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15200" y="2651760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2651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74320" y="3145536"/>
            <a:ext cx="2377440" cy="457200"/>
          </a:xfrm>
          <a:prstGeom prst="rect">
            <a:avLst/>
          </a:prstGeom>
          <a:solidFill>
            <a:srgbClr val="0F172A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1455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Quality Critic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51760" y="3145536"/>
            <a:ext cx="1554480" cy="457200"/>
          </a:xfrm>
          <a:prstGeom prst="rect">
            <a:avLst/>
          </a:prstGeom>
          <a:solidFill>
            <a:srgbClr val="120A28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51760" y="31455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06240" y="3145536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31455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60720" y="3145536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0" y="31455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15200" y="3145536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0" y="31455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74320" y="3639312"/>
            <a:ext cx="2377440" cy="457200"/>
          </a:xfrm>
          <a:prstGeom prst="rect">
            <a:avLst/>
          </a:prstGeom>
          <a:solidFill>
            <a:srgbClr val="0F172A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3639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Library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51760" y="3639312"/>
            <a:ext cx="1554480" cy="457200"/>
          </a:xfrm>
          <a:prstGeom prst="rect">
            <a:avLst/>
          </a:prstGeom>
          <a:solidFill>
            <a:srgbClr val="120A28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51760" y="36393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206240" y="3639312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36393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760720" y="3639312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60720" y="36393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15200" y="3639312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0" y="36393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274320" y="4133088"/>
            <a:ext cx="2377440" cy="457200"/>
          </a:xfrm>
          <a:prstGeom prst="rect">
            <a:avLst/>
          </a:prstGeom>
          <a:solidFill>
            <a:srgbClr val="0F172A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133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651760" y="4133088"/>
            <a:ext cx="1554480" cy="457200"/>
          </a:xfrm>
          <a:prstGeom prst="rect">
            <a:avLst/>
          </a:prstGeom>
          <a:solidFill>
            <a:srgbClr val="120A28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51760" y="41330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206240" y="4133088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06240" y="41330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760720" y="4133088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60720" y="41330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315200" y="4133088"/>
            <a:ext cx="1554480" cy="457200"/>
          </a:xfrm>
          <a:prstGeom prst="rect">
            <a:avLst/>
          </a:prstGeom>
          <a:solidFill>
            <a:srgbClr val="08080F"/>
          </a:solidFill>
          <a:ln w="3810">
            <a:solidFill>
              <a:srgbClr val="1A1A2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0" y="41330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80C4AF04-0064-3D4C-3C83-8198CC7B8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998" y="23368"/>
            <a:ext cx="1197196" cy="629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9"/>
          </a:solidFill>
          <a:ln w="12700">
            <a:solidFill>
              <a:srgbClr val="030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73168"/>
            <a:ext cx="9144000" cy="6400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live. Roadmap clear.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" y="1536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TRACTION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01952"/>
            <a:ext cx="237744" cy="237744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01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190195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3-agent MVP fully implemented &amp; live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04872"/>
            <a:ext cx="237744" cy="237744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24048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full funnel &amp; CTA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07792"/>
            <a:ext cx="237744" cy="237744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077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290779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Groq backend (700 tok/s)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410712"/>
            <a:ext cx="237744" cy="237744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07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" y="341071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— works without backend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913632"/>
            <a:ext cx="237744" cy="237744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136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" y="391363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foundation &amp; pitch ready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1508760"/>
            <a:ext cx="0" cy="301752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5361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36592" y="19385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2029968"/>
            <a:ext cx="2743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1901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NOW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21396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 · 3 agents · Demo mode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36592" y="2670048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2761488"/>
            <a:ext cx="27432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633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— Q3 2026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28712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· ChromaDB vector store · Neo4j graph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36592" y="3401568"/>
            <a:ext cx="182880" cy="1828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3493008"/>
            <a:ext cx="27432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364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 — Q4 2026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36027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· EU data residency · SSO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36592" y="413308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4224528"/>
            <a:ext cx="2743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40965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— 2027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43342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licences · API marketplace · 50K users</a:t>
            </a:r>
            <a:endParaRPr lang="en-US" sz="11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2734440-3297-1F3C-0B00-D6741E507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998" y="23368"/>
            <a:ext cx="1197196" cy="629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9"/>
          </a:solidFill>
          <a:ln w="12700">
            <a:solidFill>
              <a:srgbClr val="030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73168"/>
            <a:ext cx="9144000" cy="6400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researchers,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researchers.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938528"/>
            <a:ext cx="658368" cy="65836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9385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16152" y="16642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Teodor Mihailescu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16152" y="19933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 &amp; AI Engineer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16152" y="232257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· All 3 Groq agents · DevOps &amp; deployment pipeline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1572768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938528"/>
            <a:ext cx="658368" cy="658368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9385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41848" y="16642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Anastasia Sandu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41848" y="19933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 &amp; UX Designer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41848" y="232257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(Three.js+GSAP) · MVP app UI · Knowledge graph viz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3127248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" y="3493008"/>
            <a:ext cx="658368" cy="658368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3493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16152" y="32186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Selena Hurloi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16152" y="35478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 &amp; Analyst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16152" y="387705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foundation · Market research · Pitch deck &amp; risk planning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3127248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493008"/>
            <a:ext cx="658368" cy="65836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93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641848" y="32186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Adelina Danescu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41848" y="35478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 &amp; QA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41848" y="387705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· QA pipeline · Integration tests · Bug tracking &amp; fixes</a:t>
            </a:r>
            <a:endParaRPr lang="en-US" sz="9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D176EE9-D496-F55B-994A-056CEC1A3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998" y="23368"/>
            <a:ext cx="1197196" cy="629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9"/>
          </a:solidFill>
          <a:ln w="12700">
            <a:solidFill>
              <a:srgbClr val="030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9"/>
          </a:solidFill>
          <a:ln w="12700">
            <a:solidFill>
              <a:srgbClr val="030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-914400"/>
            <a:ext cx="7315200" cy="7315200"/>
          </a:xfrm>
          <a:prstGeom prst="ellipse">
            <a:avLst/>
          </a:prstGeom>
          <a:solidFill>
            <a:srgbClr val="6D28D9">
              <a:alpha val="8000"/>
            </a:srgbClr>
          </a:solidFill>
          <a:ln w="12700">
            <a:solidFill>
              <a:srgbClr val="6D28D9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for free.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card. No limits. Just knowledge.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0" y="2331720"/>
            <a:ext cx="27432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42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Landing Page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researchmind.ai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542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Free Groq Key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834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console.groq.com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542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Contact 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834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hello@researchmind.ai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ResearchMind  ·  MPA 2026  ·  Teodor Mihailescu, Anastasia Sandu, Selena Hurloi, Adelina Danescu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94760" y="3383280"/>
            <a:ext cx="1554480" cy="685800"/>
          </a:xfrm>
          <a:prstGeom prst="roundRect">
            <a:avLst>
              <a:gd name="adj" fmla="val 16000"/>
            </a:avLst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33832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 →</a:t>
            </a:r>
            <a:endParaRPr lang="en-US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3FB408F-739A-0A80-34F5-304237AB7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998" y="23368"/>
            <a:ext cx="1197196" cy="629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703</Words>
  <Application>Microsoft Macintosh PowerPoint</Application>
  <PresentationFormat>On-screen Show (16:9)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ResearchMind — AI Research Intelligence</dc:title>
  <dc:subject>PptxGenJS Presentation</dc:subject>
  <dc:creator>ResearchMind Team</dc:creator>
  <cp:lastModifiedBy>Microsoft Office User</cp:lastModifiedBy>
  <cp:revision>2</cp:revision>
  <dcterms:created xsi:type="dcterms:W3CDTF">2026-05-10T09:46:42Z</dcterms:created>
  <dcterms:modified xsi:type="dcterms:W3CDTF">2026-05-10T09:51:49Z</dcterms:modified>
</cp:coreProperties>
</file>